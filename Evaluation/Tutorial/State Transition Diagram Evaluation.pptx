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Int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E70023-1E81-4B0A-8B97-5206ADD798FC}">
  <a:tblStyle styleId="{0AE70023-1E81-4B0A-8B97-5206ADD798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slideMaster" Target="slideMasters/slideMaster1.xml"/><Relationship Id="rId19" Type="http://schemas.openxmlformats.org/officeDocument/2006/relationships/font" Target="fonts/Inter-boldItalic.fntdata"/><Relationship Id="rId6" Type="http://schemas.openxmlformats.org/officeDocument/2006/relationships/notesMaster" Target="notesMasters/notesMaster1.xml"/><Relationship Id="rId18" Type="http://schemas.openxmlformats.org/officeDocument/2006/relationships/font" Target="fonts/Inter-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ba4fc08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ba4fc08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ba4fc08c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ba4fc08c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ba4fc08c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ba4fc08c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ba4fc08c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ba4fc08c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ba4fc08c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ba4fc08c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a4fc08c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ba4fc08c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6baf5520e26ff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6baf5520e26ff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ba4fc08c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ba4fc08c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forms.gle/qjBy5NxoFtYCU9Tw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State Transition Diagram Evaluation</a:t>
            </a:r>
            <a:endParaRPr/>
          </a:p>
        </p:txBody>
      </p:sp>
      <p:sp>
        <p:nvSpPr>
          <p:cNvPr id="55" name="Google Shape;55;p13"/>
          <p:cNvSpPr txBox="1"/>
          <p:nvPr>
            <p:ph idx="1" type="subTitle"/>
          </p:nvPr>
        </p:nvSpPr>
        <p:spPr>
          <a:xfrm>
            <a:off x="199150" y="2945075"/>
            <a:ext cx="8797800" cy="12099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Objective: Assess state diagrams generated from natural language requirements.</a:t>
            </a:r>
            <a:endParaRPr/>
          </a:p>
          <a:p>
            <a:pPr indent="0" lvl="0" marL="0" rtl="0" algn="ctr">
              <a:spcBef>
                <a:spcPts val="0"/>
              </a:spcBef>
              <a:spcAft>
                <a:spcPts val="0"/>
              </a:spcAft>
              <a:buNone/>
            </a:pPr>
            <a:r>
              <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Criteria</a:t>
            </a:r>
            <a:endParaRPr/>
          </a:p>
        </p:txBody>
      </p:sp>
      <p:graphicFrame>
        <p:nvGraphicFramePr>
          <p:cNvPr id="61" name="Google Shape;61;p14"/>
          <p:cNvGraphicFramePr/>
          <p:nvPr/>
        </p:nvGraphicFramePr>
        <p:xfrm>
          <a:off x="464125" y="1559875"/>
          <a:ext cx="3000000" cy="3000000"/>
        </p:xfrm>
        <a:graphic>
          <a:graphicData uri="http://schemas.openxmlformats.org/drawingml/2006/table">
            <a:tbl>
              <a:tblPr>
                <a:noFill/>
                <a:tableStyleId>{0AE70023-1E81-4B0A-8B97-5206ADD798FC}</a:tableStyleId>
              </a:tblPr>
              <a:tblGrid>
                <a:gridCol w="3243100"/>
                <a:gridCol w="4750950"/>
              </a:tblGrid>
              <a:tr h="399975">
                <a:tc>
                  <a:txBody>
                    <a:bodyPr/>
                    <a:lstStyle/>
                    <a:p>
                      <a:pPr indent="0" lvl="0" marL="0" rtl="0" algn="l">
                        <a:lnSpc>
                          <a:spcPct val="100000"/>
                        </a:lnSpc>
                        <a:spcBef>
                          <a:spcPts val="0"/>
                        </a:spcBef>
                        <a:spcAft>
                          <a:spcPts val="0"/>
                        </a:spcAft>
                        <a:buNone/>
                      </a:pPr>
                      <a:r>
                        <a:rPr b="1" lang="en" sz="1150">
                          <a:solidFill>
                            <a:schemeClr val="dk1"/>
                          </a:solidFill>
                          <a:latin typeface="Inter"/>
                          <a:ea typeface="Inter"/>
                          <a:cs typeface="Inter"/>
                          <a:sym typeface="Inter"/>
                        </a:rPr>
                        <a:t>Criterion</a:t>
                      </a:r>
                      <a:endParaRPr b="1"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1150">
                          <a:solidFill>
                            <a:schemeClr val="dk1"/>
                          </a:solidFill>
                          <a:latin typeface="Inter"/>
                          <a:ea typeface="Inter"/>
                          <a:cs typeface="Inter"/>
                          <a:sym typeface="Inter"/>
                        </a:rPr>
                        <a:t>What we check in a State Diagram</a:t>
                      </a:r>
                      <a:endParaRPr b="1"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7750">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Completeness</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Are all required states, transitions, events, guards, initial/final states present?</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7750">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Correctness</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Does the state behavior logically match the requirement? (No contradictions)</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7750">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Understandability</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Is the diagram clear, readable, and not unnecessarily complex/redundant?</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97750">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Terminological Alignment</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150">
                          <a:solidFill>
                            <a:schemeClr val="dk1"/>
                          </a:solidFill>
                          <a:latin typeface="Inter"/>
                          <a:ea typeface="Inter"/>
                          <a:cs typeface="Inter"/>
                          <a:sym typeface="Inter"/>
                        </a:rPr>
                        <a:t>Do state names and transition labels use the exact terms from the requirement?</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2" name="Google Shape;62;p14"/>
          <p:cNvSpPr txBox="1"/>
          <p:nvPr/>
        </p:nvSpPr>
        <p:spPr>
          <a:xfrm>
            <a:off x="380925" y="953475"/>
            <a:ext cx="7964700" cy="71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i="1" lang="en" sz="1200">
                <a:solidFill>
                  <a:schemeClr val="dk1"/>
                </a:solidFill>
                <a:latin typeface="Inter"/>
                <a:ea typeface="Inter"/>
                <a:cs typeface="Inter"/>
                <a:sym typeface="Inter"/>
              </a:rPr>
              <a:t>We evaluate each diagram against 5 criteria using a 1–5 scale.</a:t>
            </a:r>
            <a:endParaRPr i="1" sz="1200">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1–5 Rating Scale</a:t>
            </a:r>
            <a:endParaRPr/>
          </a:p>
        </p:txBody>
      </p:sp>
      <p:graphicFrame>
        <p:nvGraphicFramePr>
          <p:cNvPr id="68" name="Google Shape;68;p15"/>
          <p:cNvGraphicFramePr/>
          <p:nvPr/>
        </p:nvGraphicFramePr>
        <p:xfrm>
          <a:off x="419100" y="1017725"/>
          <a:ext cx="3000000" cy="3000000"/>
        </p:xfrm>
        <a:graphic>
          <a:graphicData uri="http://schemas.openxmlformats.org/drawingml/2006/table">
            <a:tbl>
              <a:tblPr>
                <a:noFill/>
                <a:tableStyleId>{0AE70023-1E81-4B0A-8B97-5206ADD798FC}</a:tableStyleId>
              </a:tblPr>
              <a:tblGrid>
                <a:gridCol w="678700"/>
                <a:gridCol w="2492550"/>
                <a:gridCol w="5022000"/>
              </a:tblGrid>
              <a:tr h="428625">
                <a:tc>
                  <a:txBody>
                    <a:bodyPr/>
                    <a:lstStyle/>
                    <a:p>
                      <a:pPr indent="0" lvl="0" marL="0" rtl="0" algn="l">
                        <a:lnSpc>
                          <a:spcPct val="163043"/>
                        </a:lnSpc>
                        <a:spcBef>
                          <a:spcPts val="0"/>
                        </a:spcBef>
                        <a:spcAft>
                          <a:spcPts val="0"/>
                        </a:spcAft>
                        <a:buNone/>
                      </a:pPr>
                      <a:r>
                        <a:rPr b="1" lang="en" sz="1150">
                          <a:solidFill>
                            <a:schemeClr val="dk1"/>
                          </a:solidFill>
                          <a:latin typeface="Inter"/>
                          <a:ea typeface="Inter"/>
                          <a:cs typeface="Inter"/>
                          <a:sym typeface="Inter"/>
                        </a:rPr>
                        <a:t>Score</a:t>
                      </a:r>
                      <a:endParaRPr b="1"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n" sz="1150">
                          <a:solidFill>
                            <a:schemeClr val="dk1"/>
                          </a:solidFill>
                          <a:latin typeface="Inter"/>
                          <a:ea typeface="Inter"/>
                          <a:cs typeface="Inter"/>
                          <a:sym typeface="Inter"/>
                        </a:rPr>
                        <a:t>Meaning</a:t>
                      </a:r>
                      <a:endParaRPr b="1"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n" sz="1150">
                          <a:solidFill>
                            <a:schemeClr val="dk1"/>
                          </a:solidFill>
                          <a:latin typeface="Inter"/>
                          <a:ea typeface="Inter"/>
                          <a:cs typeface="Inter"/>
                          <a:sym typeface="Inter"/>
                        </a:rPr>
                        <a:t>When to use</a:t>
                      </a:r>
                      <a:endParaRPr b="1"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5625">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1</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Not fulfilled at all</a:t>
                      </a:r>
                      <a:endParaRPr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Missing major elements, logically wrong, or incomprehensible</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2</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Fulfilled to a minimal extent</a:t>
                      </a:r>
                      <a:endParaRPr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Very few elements present, but mostly incorrect</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3</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Partially fulfilled</a:t>
                      </a:r>
                      <a:endParaRPr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Some parts OK, but clear gaps or errors</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4</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Mainly fulfilled</a:t>
                      </a:r>
                      <a:endParaRPr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Most requirements met, minor issues only</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5</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Completely fulfilled</a:t>
                      </a:r>
                      <a:endParaRPr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All requirements met perfectly, no issues</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9" name="Google Shape;69;p15"/>
          <p:cNvSpPr txBox="1"/>
          <p:nvPr/>
        </p:nvSpPr>
        <p:spPr>
          <a:xfrm>
            <a:off x="121275" y="3351950"/>
            <a:ext cx="8754300" cy="1684800"/>
          </a:xfrm>
          <a:prstGeom prst="rect">
            <a:avLst/>
          </a:prstGeom>
          <a:noFill/>
          <a:ln>
            <a:noFill/>
          </a:ln>
        </p:spPr>
        <p:txBody>
          <a:bodyPr anchorCtr="0" anchor="ctr" bIns="91425" lIns="91425" spcFirstLastPara="1" rIns="91425" wrap="square" tIns="91425">
            <a:noAutofit/>
          </a:bodyPr>
          <a:lstStyle/>
          <a:p>
            <a:pPr indent="0" lvl="0" marL="139700" rtl="0" algn="l">
              <a:lnSpc>
                <a:spcPct val="115000"/>
              </a:lnSpc>
              <a:spcBef>
                <a:spcPts val="1200"/>
              </a:spcBef>
              <a:spcAft>
                <a:spcPts val="0"/>
              </a:spcAft>
              <a:buNone/>
            </a:pPr>
            <a:r>
              <a:rPr b="1" lang="en" sz="1200">
                <a:solidFill>
                  <a:schemeClr val="dk1"/>
                </a:solidFill>
                <a:latin typeface="Inter"/>
                <a:ea typeface="Inter"/>
                <a:cs typeface="Inter"/>
                <a:sym typeface="Inter"/>
              </a:rPr>
              <a:t>Important</a:t>
            </a:r>
            <a:r>
              <a:rPr lang="en" sz="1200">
                <a:solidFill>
                  <a:schemeClr val="dk1"/>
                </a:solidFill>
                <a:latin typeface="Inter"/>
                <a:ea typeface="Inter"/>
                <a:cs typeface="Inter"/>
                <a:sym typeface="Inter"/>
              </a:rPr>
              <a:t>: For each score below 5, please write a short textual justification explaining the problem(s) observed. This will be used for qualitative issue analysis.</a:t>
            </a:r>
            <a:endParaRPr sz="1200">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1</a:t>
            </a:r>
            <a:endParaRPr/>
          </a:p>
        </p:txBody>
      </p:sp>
      <p:sp>
        <p:nvSpPr>
          <p:cNvPr id="75" name="Google Shape;75;p16"/>
          <p:cNvSpPr txBox="1"/>
          <p:nvPr>
            <p:ph idx="1" type="body"/>
          </p:nvPr>
        </p:nvSpPr>
        <p:spPr>
          <a:xfrm>
            <a:off x="311700" y="1152475"/>
            <a:ext cx="6732600" cy="39909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First Person Shooter Fps Games — Polished Requirement Specification</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b="1" lang="en" sz="1150">
                <a:solidFill>
                  <a:schemeClr val="dk1"/>
                </a:solidFill>
                <a:highlight>
                  <a:srgbClr val="FFFFFF"/>
                </a:highlight>
                <a:latin typeface="Courier New"/>
                <a:ea typeface="Courier New"/>
                <a:cs typeface="Courier New"/>
                <a:sym typeface="Courier New"/>
              </a:rPr>
              <a:t>Overview</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A troll in a game normally stays calm and does nothing when there is no threat around. As soon as it notices an opponent, its reaction depends on how strong the opponent appears. If the opponent looks weak enough to defeat, the troll becomes aggressive and starts attacking.</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b="1" lang="en" sz="1150">
                <a:solidFill>
                  <a:schemeClr val="dk1"/>
                </a:solidFill>
                <a:highlight>
                  <a:srgbClr val="FFFFFF"/>
                </a:highlight>
                <a:latin typeface="Courier New"/>
                <a:ea typeface="Courier New"/>
                <a:cs typeface="Courier New"/>
                <a:sym typeface="Courier New"/>
              </a:rPr>
              <a:t>Operational Context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Primary actors are not explicitly stated in the source text.</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b="1" lang="en" sz="1150">
                <a:solidFill>
                  <a:schemeClr val="dk1"/>
                </a:solidFill>
                <a:highlight>
                  <a:srgbClr val="FFFFFF"/>
                </a:highlight>
                <a:latin typeface="Courier New"/>
                <a:ea typeface="Courier New"/>
                <a:cs typeface="Courier New"/>
                <a:sym typeface="Courier New"/>
              </a:rPr>
              <a:t>Functional Requirements</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1. The system shall keep the troll in a calm state with no actions if there is no detected threat.</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2. The system shall determine the troll's reaction based on the perceived strength of the detected opponent.</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3. The system shall make the troll aggressive and start an attack if the opponent appears weak enough to defeat.</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4. The system shall continue the troll's fight while it can see the opponent.</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5. The system shall calm the troll and return it to a normal state if it loses sight of the opponent.</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6. The system shall make the troll scared and panic if the opponent appears too strong.</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7. The system shall calm the troll and return it to a normal state if it gets away from or loses sight of a stronger opponent.</a:t>
            </a:r>
            <a:endParaRPr sz="1150">
              <a:solidFill>
                <a:schemeClr val="dk1"/>
              </a:solidFill>
              <a:highlight>
                <a:srgbClr val="FFFFFF"/>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8. The system shall remove the troll from the game if it takes a fatal hit and its health reaches zero.</a:t>
            </a:r>
            <a:endParaRPr sz="1900"/>
          </a:p>
        </p:txBody>
      </p:sp>
      <p:sp>
        <p:nvSpPr>
          <p:cNvPr id="76" name="Google Shape;76;p16"/>
          <p:cNvSpPr txBox="1"/>
          <p:nvPr/>
        </p:nvSpPr>
        <p:spPr>
          <a:xfrm>
            <a:off x="7200975" y="2018550"/>
            <a:ext cx="1770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You will be provided with the requirements in this format.</a:t>
            </a:r>
            <a:endParaRPr sz="16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1</a:t>
            </a:r>
            <a:endParaRPr/>
          </a:p>
        </p:txBody>
      </p:sp>
      <p:pic>
        <p:nvPicPr>
          <p:cNvPr id="82" name="Google Shape;82;p17" title="diagram (1).png"/>
          <p:cNvPicPr preferRelativeResize="0"/>
          <p:nvPr/>
        </p:nvPicPr>
        <p:blipFill>
          <a:blip r:embed="rId3">
            <a:alphaModFix/>
          </a:blip>
          <a:stretch>
            <a:fillRect/>
          </a:stretch>
        </p:blipFill>
        <p:spPr>
          <a:xfrm>
            <a:off x="260500" y="1334450"/>
            <a:ext cx="7538100" cy="3266025"/>
          </a:xfrm>
          <a:prstGeom prst="rect">
            <a:avLst/>
          </a:prstGeom>
          <a:noFill/>
          <a:ln>
            <a:noFill/>
          </a:ln>
        </p:spPr>
      </p:pic>
      <p:sp>
        <p:nvSpPr>
          <p:cNvPr id="83" name="Google Shape;83;p17"/>
          <p:cNvSpPr txBox="1"/>
          <p:nvPr/>
        </p:nvSpPr>
        <p:spPr>
          <a:xfrm>
            <a:off x="311700" y="4492700"/>
            <a:ext cx="721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Note</a:t>
            </a:r>
            <a:r>
              <a:rPr lang="en" sz="1800">
                <a:solidFill>
                  <a:schemeClr val="dk2"/>
                </a:solidFill>
              </a:rPr>
              <a:t>: This is an example of a correct diagramming format.</a:t>
            </a:r>
            <a:endParaRPr sz="1800">
              <a:solidFill>
                <a:schemeClr val="dk2"/>
              </a:solidFill>
            </a:endParaRPr>
          </a:p>
        </p:txBody>
      </p:sp>
      <p:sp>
        <p:nvSpPr>
          <p:cNvPr id="84" name="Google Shape;84;p17"/>
          <p:cNvSpPr txBox="1"/>
          <p:nvPr/>
        </p:nvSpPr>
        <p:spPr>
          <a:xfrm>
            <a:off x="448075" y="923200"/>
            <a:ext cx="498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And the diagram in this format.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2</a:t>
            </a:r>
            <a:endParaRPr/>
          </a:p>
        </p:txBody>
      </p:sp>
      <p:sp>
        <p:nvSpPr>
          <p:cNvPr id="90" name="Google Shape;90;p18"/>
          <p:cNvSpPr txBox="1"/>
          <p:nvPr>
            <p:ph idx="1" type="body"/>
          </p:nvPr>
        </p:nvSpPr>
        <p:spPr>
          <a:xfrm>
            <a:off x="311700" y="1017725"/>
            <a:ext cx="5949000" cy="39189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853"/>
              <a:buNone/>
            </a:pPr>
            <a:r>
              <a:rPr b="1" lang="en" sz="1195">
                <a:solidFill>
                  <a:schemeClr val="dk1"/>
                </a:solidFill>
              </a:rPr>
              <a:t>Product Recommendation</a:t>
            </a:r>
            <a:r>
              <a:rPr lang="en" sz="1195">
                <a:solidFill>
                  <a:schemeClr val="dk1"/>
                </a:solidFill>
              </a:rPr>
              <a:t> - Polished Requirement Specification</a:t>
            </a:r>
            <a:endParaRPr sz="1195">
              <a:solidFill>
                <a:schemeClr val="dk1"/>
              </a:solidFill>
            </a:endParaRPr>
          </a:p>
          <a:p>
            <a:pPr indent="0" lvl="0" marL="0" rtl="0" algn="l">
              <a:lnSpc>
                <a:spcPct val="115000"/>
              </a:lnSpc>
              <a:spcBef>
                <a:spcPts val="0"/>
              </a:spcBef>
              <a:spcAft>
                <a:spcPts val="0"/>
              </a:spcAft>
              <a:buSzPts val="853"/>
              <a:buNone/>
            </a:pPr>
            <a:r>
              <a:rPr b="1" lang="en" sz="1195">
                <a:solidFill>
                  <a:schemeClr val="dk1"/>
                </a:solidFill>
              </a:rPr>
              <a:t>Overview</a:t>
            </a:r>
            <a:endParaRPr b="1"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A user enters the platform by registering or signing in. Once access is granted, the user searches for a product, and the system displays the matching results. After viewing the search results, the user may choose to apply filters to narrow down the options.</a:t>
            </a:r>
            <a:endParaRPr sz="1195">
              <a:solidFill>
                <a:schemeClr val="dk1"/>
              </a:solidFill>
            </a:endParaRPr>
          </a:p>
          <a:p>
            <a:pPr indent="0" lvl="0" marL="0" rtl="0" algn="l">
              <a:lnSpc>
                <a:spcPct val="115000"/>
              </a:lnSpc>
              <a:spcBef>
                <a:spcPts val="600"/>
              </a:spcBef>
              <a:spcAft>
                <a:spcPts val="0"/>
              </a:spcAft>
              <a:buSzPts val="853"/>
              <a:buNone/>
            </a:pPr>
            <a:r>
              <a:rPr b="1" lang="en" sz="1195">
                <a:solidFill>
                  <a:schemeClr val="dk1"/>
                </a:solidFill>
              </a:rPr>
              <a:t>Operational Context</a:t>
            </a:r>
            <a:endParaRPr b="1"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Primary actors include user.</a:t>
            </a:r>
            <a:endParaRPr sz="1095">
              <a:solidFill>
                <a:schemeClr val="dk1"/>
              </a:solidFill>
            </a:endParaRPr>
          </a:p>
          <a:p>
            <a:pPr indent="0" lvl="0" marL="0" rtl="0" algn="l">
              <a:lnSpc>
                <a:spcPct val="115000"/>
              </a:lnSpc>
              <a:spcBef>
                <a:spcPts val="600"/>
              </a:spcBef>
              <a:spcAft>
                <a:spcPts val="0"/>
              </a:spcAft>
              <a:buSzPts val="853"/>
              <a:buNone/>
            </a:pPr>
            <a:r>
              <a:rPr b="1" lang="en" sz="1195">
                <a:solidFill>
                  <a:schemeClr val="dk1"/>
                </a:solidFill>
              </a:rPr>
              <a:t>Functional Requirements</a:t>
            </a:r>
            <a:endParaRPr b="1"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1. The system shall allow users to register or sign in to access the platform.</a:t>
            </a:r>
            <a:endParaRPr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2. The system shall enable users to search for products after they have registered or logged in.</a:t>
            </a:r>
            <a:endParaRPr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3. The system shall display matching product results based on the user's search query.</a:t>
            </a:r>
            <a:endParaRPr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4. The system shall allow users to apply filters to refine their search results.</a:t>
            </a:r>
            <a:endParaRPr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5. The system shall update the displayed product results based on the applied filters.</a:t>
            </a:r>
            <a:endParaRPr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6. The system shall allow users to select a product from search or filtered results.</a:t>
            </a:r>
            <a:endParaRPr sz="1195">
              <a:solidFill>
                <a:schemeClr val="dk1"/>
              </a:solidFill>
            </a:endParaRPr>
          </a:p>
          <a:p>
            <a:pPr indent="0" lvl="0" marL="0" rtl="0" algn="l">
              <a:lnSpc>
                <a:spcPct val="115000"/>
              </a:lnSpc>
              <a:spcBef>
                <a:spcPts val="0"/>
              </a:spcBef>
              <a:spcAft>
                <a:spcPts val="0"/>
              </a:spcAft>
              <a:buSzPts val="853"/>
              <a:buNone/>
            </a:pPr>
            <a:r>
              <a:rPr lang="en" sz="1195">
                <a:solidFill>
                  <a:schemeClr val="dk1"/>
                </a:solidFill>
              </a:rPr>
              <a:t>7. The system shall redirect the user to the official website of the selected product upon selection.</a:t>
            </a:r>
            <a:endParaRPr sz="1195">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2</a:t>
            </a:r>
            <a:endParaRPr/>
          </a:p>
        </p:txBody>
      </p:sp>
      <p:pic>
        <p:nvPicPr>
          <p:cNvPr id="96" name="Google Shape;96;p19" title="diagram.png"/>
          <p:cNvPicPr preferRelativeResize="0"/>
          <p:nvPr/>
        </p:nvPicPr>
        <p:blipFill>
          <a:blip r:embed="rId3">
            <a:alphaModFix/>
          </a:blip>
          <a:stretch>
            <a:fillRect/>
          </a:stretch>
        </p:blipFill>
        <p:spPr>
          <a:xfrm>
            <a:off x="0" y="1812713"/>
            <a:ext cx="9144003" cy="2187774"/>
          </a:xfrm>
          <a:prstGeom prst="rect">
            <a:avLst/>
          </a:prstGeom>
          <a:noFill/>
          <a:ln>
            <a:noFill/>
          </a:ln>
        </p:spPr>
      </p:pic>
      <p:sp>
        <p:nvSpPr>
          <p:cNvPr id="97" name="Google Shape;97;p19"/>
          <p:cNvSpPr txBox="1"/>
          <p:nvPr/>
        </p:nvSpPr>
        <p:spPr>
          <a:xfrm>
            <a:off x="467650" y="1109350"/>
            <a:ext cx="498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And the diagram in this format. </a:t>
            </a:r>
            <a:endParaRPr sz="1800">
              <a:solidFill>
                <a:schemeClr val="dk2"/>
              </a:solidFill>
            </a:endParaRPr>
          </a:p>
        </p:txBody>
      </p:sp>
      <p:sp>
        <p:nvSpPr>
          <p:cNvPr id="98" name="Google Shape;98;p19"/>
          <p:cNvSpPr txBox="1"/>
          <p:nvPr/>
        </p:nvSpPr>
        <p:spPr>
          <a:xfrm>
            <a:off x="311700" y="4242150"/>
            <a:ext cx="738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Note: This is ALSO an example of a correct diagramming format.</a:t>
            </a:r>
            <a:endParaRPr sz="1800">
              <a:solidFill>
                <a:schemeClr val="dk2"/>
              </a:solidFill>
            </a:endParaRPr>
          </a:p>
        </p:txBody>
      </p:sp>
      <p:sp>
        <p:nvSpPr>
          <p:cNvPr id="99" name="Google Shape;99;p19"/>
          <p:cNvSpPr txBox="1"/>
          <p:nvPr/>
        </p:nvSpPr>
        <p:spPr>
          <a:xfrm>
            <a:off x="6547800" y="709400"/>
            <a:ext cx="25962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Note that this is more of a software solution, which is better interpreted using other behavioral models (sequence diagram), but this is still correct. </a:t>
            </a:r>
            <a:endParaRPr sz="16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Composite states </a:t>
            </a:r>
            <a:endParaRPr/>
          </a:p>
        </p:txBody>
      </p:sp>
      <p:sp>
        <p:nvSpPr>
          <p:cNvPr id="105" name="Google Shape;105;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is an example of a composite state where multiple states can be in that composite state. The dotted line indicates AND function as in both can happen simultaneously. The machine can dispense the drink and update the bookkeeping at the same time.</a:t>
            </a:r>
            <a:endParaRPr/>
          </a:p>
        </p:txBody>
      </p:sp>
      <p:pic>
        <p:nvPicPr>
          <p:cNvPr id="106" name="Google Shape;106;p20"/>
          <p:cNvPicPr preferRelativeResize="0"/>
          <p:nvPr/>
        </p:nvPicPr>
        <p:blipFill>
          <a:blip r:embed="rId3">
            <a:alphaModFix/>
          </a:blip>
          <a:stretch>
            <a:fillRect/>
          </a:stretch>
        </p:blipFill>
        <p:spPr>
          <a:xfrm>
            <a:off x="3976745" y="489537"/>
            <a:ext cx="4192225" cy="4164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 What We Need From You</a:t>
            </a:r>
            <a:endParaRPr/>
          </a:p>
        </p:txBody>
      </p:sp>
      <p:graphicFrame>
        <p:nvGraphicFramePr>
          <p:cNvPr id="112" name="Google Shape;112;p21"/>
          <p:cNvGraphicFramePr/>
          <p:nvPr/>
        </p:nvGraphicFramePr>
        <p:xfrm>
          <a:off x="730825" y="1286750"/>
          <a:ext cx="3000000" cy="3000000"/>
        </p:xfrm>
        <a:graphic>
          <a:graphicData uri="http://schemas.openxmlformats.org/drawingml/2006/table">
            <a:tbl>
              <a:tblPr>
                <a:noFill/>
                <a:tableStyleId>{0AE70023-1E81-4B0A-8B97-5206ADD798FC}</a:tableStyleId>
              </a:tblPr>
              <a:tblGrid>
                <a:gridCol w="4429125"/>
                <a:gridCol w="2733675"/>
              </a:tblGrid>
              <a:tr h="428625">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Your Task</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Format</a:t>
                      </a:r>
                      <a:endParaRPr sz="1150">
                        <a:solidFill>
                          <a:schemeClr val="dk1"/>
                        </a:solidFill>
                        <a:latin typeface="Inter"/>
                        <a:ea typeface="Inter"/>
                        <a:cs typeface="Inter"/>
                        <a:sym typeface="Inter"/>
                      </a:endParaRPr>
                    </a:p>
                  </a:txBody>
                  <a:tcPr marT="95250" marB="95250" marR="152400"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1. Review each diagram against the 4 criteria</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1–5 score per criterion</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2. Write a short justification for any score &lt;5</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Free text (1–2 sentences)</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chemeClr val="dk1"/>
                          </a:solidFill>
                          <a:latin typeface="Inter"/>
                          <a:ea typeface="Inter"/>
                          <a:cs typeface="Inter"/>
                          <a:sym typeface="Inter"/>
                        </a:rPr>
                        <a:t>3</a:t>
                      </a:r>
                      <a:r>
                        <a:rPr lang="en" sz="1150">
                          <a:solidFill>
                            <a:schemeClr val="dk1"/>
                          </a:solidFill>
                          <a:latin typeface="Inter"/>
                          <a:ea typeface="Inter"/>
                          <a:cs typeface="Inter"/>
                          <a:sym typeface="Inter"/>
                        </a:rPr>
                        <a:t>. Return completed form for each diagram</a:t>
                      </a:r>
                      <a:endParaRPr sz="1150">
                        <a:solidFill>
                          <a:schemeClr val="dk1"/>
                        </a:solidFill>
                        <a:latin typeface="Inter"/>
                        <a:ea typeface="Inter"/>
                        <a:cs typeface="Inter"/>
                        <a:sym typeface="Inter"/>
                      </a:endParaRPr>
                    </a:p>
                  </a:txBody>
                  <a:tcPr marT="95250" marB="95250" marR="152400"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u="sng">
                          <a:solidFill>
                            <a:schemeClr val="hlink"/>
                          </a:solidFill>
                          <a:latin typeface="Inter"/>
                          <a:ea typeface="Inter"/>
                          <a:cs typeface="Inter"/>
                          <a:sym typeface="Inter"/>
                          <a:hlinkClick r:id="rId3"/>
                        </a:rPr>
                        <a:t>https://forms.gle/qjBy5NxoFtYCU9Tw5</a:t>
                      </a:r>
                      <a:r>
                        <a:rPr lang="en" sz="1150">
                          <a:solidFill>
                            <a:schemeClr val="dk1"/>
                          </a:solidFill>
                          <a:latin typeface="Inter"/>
                          <a:ea typeface="Inter"/>
                          <a:cs typeface="Inter"/>
                          <a:sym typeface="Inter"/>
                        </a:rPr>
                        <a:t> </a:t>
                      </a:r>
                      <a:endParaRPr sz="1150">
                        <a:solidFill>
                          <a:schemeClr val="dk1"/>
                        </a:solidFill>
                        <a:latin typeface="Inter"/>
                        <a:ea typeface="Inter"/>
                        <a:cs typeface="Inter"/>
                        <a:sym typeface="Inter"/>
                      </a:endParaRPr>
                    </a:p>
                  </a:txBody>
                  <a:tcPr marT="95250" marB="95250" marR="91425" marL="152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3" name="Google Shape;113;p21"/>
          <p:cNvSpPr txBox="1"/>
          <p:nvPr/>
        </p:nvSpPr>
        <p:spPr>
          <a:xfrm>
            <a:off x="730825" y="2625450"/>
            <a:ext cx="43038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Inter"/>
                <a:ea typeface="Inter"/>
                <a:cs typeface="Inter"/>
                <a:sym typeface="Inter"/>
              </a:rPr>
              <a:t>Time per diagram: ~5–10 minutes</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200">
                <a:solidFill>
                  <a:schemeClr val="dk1"/>
                </a:solidFill>
                <a:latin typeface="Inter"/>
                <a:ea typeface="Inter"/>
                <a:cs typeface="Inter"/>
                <a:sym typeface="Inter"/>
              </a:rPr>
              <a:t>Questions? Ask before starting.</a:t>
            </a:r>
            <a:endParaRPr sz="12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rPr lang="en" sz="1200">
                <a:solidFill>
                  <a:schemeClr val="dk1"/>
                </a:solidFill>
                <a:latin typeface="Inter"/>
                <a:ea typeface="Inter"/>
                <a:cs typeface="Inter"/>
                <a:sym typeface="Inter"/>
              </a:rPr>
              <a:t>Thank you!</a:t>
            </a:r>
            <a:endParaRPr sz="1200">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